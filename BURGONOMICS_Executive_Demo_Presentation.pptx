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6600"/>
                </a:solidFill>
              </a:defRPr>
            </a:pPr>
            <a:r>
              <a:t>100% PURE VEGETARIAN • DIRECT-TO-CONSUMER MOBILE PLATFORM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BURGONOMICS</a:t>
            </a:r>
          </a:p>
          <a:p>
            <a:pPr>
              <a:spcAft>
                <a:spcPts val="2400"/>
              </a:spcAft>
              <a:defRPr sz="2000">
                <a:solidFill>
                  <a:srgbClr val="C8DCCD"/>
                </a:solidFill>
              </a:defRPr>
            </a:pPr>
            <a:r>
              <a:t>Next-Generation Multi-Outlet Ordering &amp; Operations Architecture</a:t>
            </a:r>
          </a:p>
          <a:p>
            <a:pPr>
              <a:defRPr sz="1300">
                <a:solidFill>
                  <a:srgbClr val="586B60"/>
                </a:solidFill>
              </a:defRPr>
            </a:pPr>
            <a:r>
              <a:t>Executive &amp; Brand Leadership Presentation •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Strategic Value: Owning the D2C Customer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ZERO AGGREGATOR CUT</a:t>
            </a:r>
          </a:p>
          <a:p>
            <a:pPr>
              <a:spcAft>
                <a:spcPts val="600"/>
              </a:spcAft>
              <a:defRPr sz="1500" b="1">
                <a:solidFill>
                  <a:srgbClr val="0E4825"/>
                </a:solidFill>
              </a:defRPr>
            </a:pPr>
            <a:r>
              <a:t>Direct Margin Expansion</a:t>
            </a:r>
          </a:p>
          <a:p>
            <a:pPr>
              <a:defRPr sz="1100">
                <a:solidFill>
                  <a:srgbClr val="16281D"/>
                </a:solidFill>
              </a:defRPr>
            </a:pPr>
            <a:r>
              <a:t>Save 15% - 30% per order currently paid in commissions to third-party food aggregators, dramatically lifting store-level EBITDA.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DIRECT CUSTOMER LOYALTY</a:t>
            </a:r>
          </a:p>
          <a:p>
            <a:pPr>
              <a:spcAft>
                <a:spcPts val="600"/>
              </a:spcAft>
              <a:defRPr sz="1500" b="1">
                <a:solidFill>
                  <a:srgbClr val="0E4825"/>
                </a:solidFill>
              </a:defRPr>
            </a:pPr>
            <a:r>
              <a:t>1st-Party Data Ownership</a:t>
            </a:r>
          </a:p>
          <a:p>
            <a:pPr>
              <a:defRPr sz="1100">
                <a:solidFill>
                  <a:srgbClr val="16281D"/>
                </a:solidFill>
              </a:defRPr>
            </a:pPr>
            <a:r>
              <a:t>Full ownership of customer profiles, purchase history, order frequency, and phone numbers for targeted WhatsApp/SMS re-engagement.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MULTI-STORE SCALE</a:t>
            </a:r>
          </a:p>
          <a:p>
            <a:pPr>
              <a:spcAft>
                <a:spcPts val="600"/>
              </a:spcAft>
              <a:defRPr sz="1500" b="1">
                <a:solidFill>
                  <a:srgbClr val="0E4825"/>
                </a:solidFill>
              </a:defRPr>
            </a:pPr>
            <a:r>
              <a:t>16+ Outlets Unified</a:t>
            </a:r>
          </a:p>
          <a:p>
            <a:pPr>
              <a:defRPr sz="1100">
                <a:solidFill>
                  <a:srgbClr val="16281D"/>
                </a:solidFill>
              </a:defRPr>
            </a:pPr>
            <a:r>
              <a:t>Seamless routing across corporate and franchise kitchens in Ahmedabad, Surat, and future expansion cities under one premium 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INSTANT KITCHEN KOT</a:t>
            </a:r>
          </a:p>
          <a:p>
            <a:pPr>
              <a:spcAft>
                <a:spcPts val="600"/>
              </a:spcAft>
              <a:defRPr sz="1500" b="1">
                <a:solidFill>
                  <a:srgbClr val="0E4825"/>
                </a:solidFill>
              </a:defRPr>
            </a:pPr>
            <a:r>
              <a:t>Petpooja Automation</a:t>
            </a:r>
          </a:p>
          <a:p>
            <a:pPr>
              <a:defRPr sz="1100">
                <a:solidFill>
                  <a:srgbClr val="16281D"/>
                </a:solidFill>
              </a:defRPr>
            </a:pPr>
            <a:r>
              <a:t>Orders flow directly into kitchen order ticket printers with zero manual entry, zero bill tampering, and full operational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PRODUCT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Mobile App Features &amp; Customer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📍 Intelligent Store Discovery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GPS-powered automatic proximity detection. Customers see distance (km) and delivery/pickup ETA in minutes across all 16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2763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🍔 Dynamic Rich Menu (63 Items)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Full catalog with high-res food photography, category carousels, customizable burger modifiers, and combo deals.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2763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⚡ 60fps Native Gestures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Built on Capacitor 8 &amp; high-performance touch delegate. Dual-axis scroll allows seamless diagonal swipe on rails without sticking.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🎨 60-30-10 Brand Theme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Curated visual identity: 60% White/Black canvas, 30% Deep Forest Green (#0E4825), and 10% Appetite Accent Orange (#FF6600).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05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🛍️ Flexible Fulfillment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Full support for Delivery, Quick Takeaway, and Dine-In with automated minimum cart and delivery fee tier calculations.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05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🔒 Bank-Grade Security</a:t>
            </a:r>
          </a:p>
          <a:p>
            <a:pPr>
              <a:defRPr sz="1050">
                <a:solidFill>
                  <a:srgbClr val="586B60"/>
                </a:solidFill>
              </a:defRPr>
            </a:pPr>
            <a:r>
              <a:t>Server-authoritative pricing eliminates cart tampering. Razorpay payment signatures are validated on secure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PAYMENT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Razorpay Architecture: Multi-Store Payment &amp; Revenue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0E6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RECOMMENDED FOR FRANCHISES</a:t>
            </a:r>
          </a:p>
          <a:p>
            <a:pPr>
              <a:spcAft>
                <a:spcPts val="1000"/>
              </a:spcAft>
              <a:defRPr sz="1400" b="1">
                <a:solidFill>
                  <a:srgbClr val="0E4825"/>
                </a:solidFill>
              </a:defRPr>
            </a:pPr>
            <a:r>
              <a:t>Option A: Razorpay Route (Split Transfers)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• Master Razorpay account for Burgonomics HQ.</a:t>
            </a:r>
            <a:br/>
            <a:r>
              <a:t>• Each franchise outlet onboarded as a Linked Account (acc_xxx).</a:t>
            </a:r>
            <a:br/>
            <a:r>
              <a:t>• Order ₹500 at Mansi Circle: ₹450 automatically settles into Franchisee bank account, ₹50 (10% brand royalty) settles into HQ account.</a:t>
            </a:r>
            <a:br/>
            <a:r>
              <a:t>• Eliminates manual reconciliation; unified brand on UPI/cards.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BEST FOR CORPORATE-OWNED</a:t>
            </a:r>
          </a:p>
          <a:p>
            <a:pPr>
              <a:spcAft>
                <a:spcPts val="1000"/>
              </a:spcAft>
              <a:defRPr sz="1400" b="1">
                <a:solidFill>
                  <a:srgbClr val="0E4825"/>
                </a:solidFill>
              </a:defRPr>
            </a:pPr>
            <a:r>
              <a:t>Option B: Single Central Master Account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• All payments from all 16 outlets flow into one primary corporate bank account.</a:t>
            </a:r>
            <a:br/>
            <a:r>
              <a:t>• Every order is tagged with storeId in metadata.</a:t>
            </a:r>
            <a:br/>
            <a:r>
              <a:t>• Central finance team reconciles outlet-wise revenue and transfers store payouts monthly/weekly based on POS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INDEPENDENT LEGAL ENTITIES</a:t>
            </a:r>
          </a:p>
          <a:p>
            <a:pPr>
              <a:spcAft>
                <a:spcPts val="1000"/>
              </a:spcAft>
              <a:defRPr sz="1400" b="1">
                <a:solidFill>
                  <a:srgbClr val="0E4825"/>
                </a:solidFill>
              </a:defRPr>
            </a:pPr>
            <a:r>
              <a:t>Option C: Dynamic Per-Store Keys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• If each outlet has distinct legal registrations &amp; Razorpay credentials.</a:t>
            </a:r>
            <a:br/>
            <a:r>
              <a:t>• Backend securely loads store-specific keyId/secret dynamically per order.</a:t>
            </a:r>
            <a:br/>
            <a:r>
              <a:t>• Customer pays directly into that store's independent merchant 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POS &amp; KITCHEN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Petpooja POS &amp; Kitchen Order Ticket (KOT)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21396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Step 1: Order Placed</a:t>
            </a:r>
          </a:p>
          <a:p>
            <a:pPr>
              <a:defRPr sz="1000">
                <a:solidFill>
                  <a:srgbClr val="586B60"/>
                </a:solidFill>
              </a:defRPr>
            </a:pPr>
            <a:r>
              <a:t>Customer selects outlet (e.g. Navrangpura) &amp; completes checkout on mobile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737360"/>
            <a:ext cx="21396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Step 2: Backend Routing</a:t>
            </a:r>
          </a:p>
          <a:p>
            <a:pPr>
              <a:defRPr sz="1000">
                <a:solidFill>
                  <a:srgbClr val="586B60"/>
                </a:solidFill>
              </a:defRPr>
            </a:pPr>
            <a:r>
              <a:t>Server resolves store's unique Petpooja ID (petpoojaRestId) and pricing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737360"/>
            <a:ext cx="21396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Step 3: Petpooja Push</a:t>
            </a:r>
          </a:p>
          <a:p>
            <a:pPr>
              <a:defRPr sz="1000">
                <a:solidFill>
                  <a:srgbClr val="586B60"/>
                </a:solidFill>
              </a:defRPr>
            </a:pPr>
            <a:r>
              <a:t>Order is dispatched via secure API directly to Petpooja Cloud with exact item modifiers.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55448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737360"/>
            <a:ext cx="21396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4825"/>
                </a:solidFill>
              </a:defRPr>
            </a:pPr>
            <a:r>
              <a:t>Step 4: Kitchen KOT Print</a:t>
            </a:r>
          </a:p>
          <a:p>
            <a:pPr>
              <a:defRPr sz="1000">
                <a:solidFill>
                  <a:srgbClr val="586B60"/>
                </a:solidFill>
              </a:defRPr>
            </a:pPr>
            <a:r>
              <a:t>Instant KOT printout at that store's kitchen counter + POS register display update.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8F9F8"/>
          </a:solidFill>
          <a:ln w="19050">
            <a:solidFill>
              <a:srgbClr val="0E4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6600"/>
                </a:solidFill>
              </a:defRPr>
            </a:pPr>
            <a:r>
              <a:t>PETPOOJA SYNC READY: TRANSITION FROM DEMO TO PRODUCTION</a:t>
            </a:r>
          </a:p>
          <a:p>
            <a:pPr>
              <a:defRPr sz="1150">
                <a:solidFill>
                  <a:srgbClr val="16281D"/>
                </a:solidFill>
              </a:defRPr>
            </a:pPr>
            <a:r>
              <a:t>• Pre-Seeded Catalog: 16 Outlets &amp; 63 Products are pre-seeded with high-fidelity demo assets for full end-to-end evaluation.</a:t>
            </a:r>
            <a:br/>
            <a:r>
              <a:t>• Plug-and-Play Credentials: As soon as live Petpooja API keys and outlet mapping IDs are configured, real-time item 86-ing (out of stock) and live menu sync activate automatically without app rebuild.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ENGINEERING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Technical Architecture, Security &amp; Code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TYPESCRIPT &amp; VITEST</a:t>
            </a:r>
          </a:p>
          <a:p>
            <a:pPr>
              <a:spcAft>
                <a:spcPts val="600"/>
              </a:spcAft>
              <a:defRPr sz="1400" b="1">
                <a:solidFill>
                  <a:srgbClr val="0E4825"/>
                </a:solidFill>
              </a:defRPr>
            </a:pPr>
            <a:r>
              <a:t>Zero Errors, 100% Type-Safe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Complete codebase runs with 0 TypeScript compilation errors and 32/32 automated unit and parity tests passing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SERVER PRICING ENGINE</a:t>
            </a:r>
          </a:p>
          <a:p>
            <a:pPr>
              <a:spcAft>
                <a:spcPts val="600"/>
              </a:spcAft>
              <a:defRPr sz="1400" b="1">
                <a:solidFill>
                  <a:srgbClr val="0E4825"/>
                </a:solidFill>
              </a:defRPr>
            </a:pPr>
            <a:r>
              <a:t>Zero Cart Tampering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Discounts, taxes (GST 5%), delivery charges, and packaging fees are calculated strictly on the server to prevent client manipulation.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FIRESTORE SECURITY LOCKDOWN</a:t>
            </a:r>
          </a:p>
          <a:p>
            <a:pPr>
              <a:spcAft>
                <a:spcPts val="600"/>
              </a:spcAft>
              <a:defRPr sz="1400" b="1">
                <a:solidFill>
                  <a:srgbClr val="0E4825"/>
                </a:solidFill>
              </a:defRPr>
            </a:pPr>
            <a:r>
              <a:t>Principle of Least Privilege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Customers can only create pending orders; updating, editing, or deleting orders is blocked by database-level security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6600"/>
                </a:solidFill>
              </a:defRPr>
            </a:pPr>
            <a:r>
              <a:t>CROSS-PLATFORM ANDROID 16 &amp; IOS</a:t>
            </a:r>
          </a:p>
          <a:p>
            <a:pPr>
              <a:spcAft>
                <a:spcPts val="600"/>
              </a:spcAft>
              <a:defRPr sz="1400" b="1">
                <a:solidFill>
                  <a:srgbClr val="0E4825"/>
                </a:solidFill>
              </a:defRPr>
            </a:pPr>
            <a:r>
              <a:t>Native Hardware Integration</a:t>
            </a:r>
          </a:p>
          <a:p>
            <a:pPr>
              <a:defRPr sz="1050">
                <a:solidFill>
                  <a:srgbClr val="16281D"/>
                </a:solidFill>
              </a:defRPr>
            </a:pPr>
            <a:r>
              <a:t>Native haptic feedback on add-to-cart, background GPS geolocation, and splash screen animations powered by Capacitor 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GO-TO-MARKET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4825"/>
                </a:solidFill>
              </a:defRPr>
            </a:pPr>
            <a:r>
              <a:t>Launch Roadmap &amp; Production Finalization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PHASE 1 (TODAY)</a:t>
            </a:r>
          </a:p>
          <a:p>
            <a:pPr>
              <a:spcAft>
                <a:spcPts val="1000"/>
              </a:spcAft>
              <a:defRPr sz="1300" b="1">
                <a:solidFill>
                  <a:srgbClr val="0E4825"/>
                </a:solidFill>
              </a:defRPr>
            </a:pPr>
            <a:r>
              <a:t>Executive Demo &amp; Feedback</a:t>
            </a:r>
          </a:p>
          <a:p>
            <a:pPr>
              <a:defRPr sz="1000">
                <a:solidFill>
                  <a:srgbClr val="16281D"/>
                </a:solidFill>
              </a:defRPr>
            </a:pPr>
            <a:r>
              <a:t>• Walkthrough on Android device RZCX51TXRKB.</a:t>
            </a:r>
            <a:br/>
            <a:r>
              <a:t>• Review store coverage, visual menu, and cart flows.</a:t>
            </a:r>
            <a:br/>
            <a:r>
              <a:t>• Align on Razorpay routing option (Route vs Central).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PHASE 2 (WEEK 1)</a:t>
            </a:r>
          </a:p>
          <a:p>
            <a:pPr>
              <a:spcAft>
                <a:spcPts val="1000"/>
              </a:spcAft>
              <a:defRPr sz="1300" b="1">
                <a:solidFill>
                  <a:srgbClr val="0E4825"/>
                </a:solidFill>
              </a:defRPr>
            </a:pPr>
            <a:r>
              <a:t>Petpooja Live Binding</a:t>
            </a:r>
          </a:p>
          <a:p>
            <a:pPr>
              <a:defRPr sz="1000">
                <a:solidFill>
                  <a:srgbClr val="16281D"/>
                </a:solidFill>
              </a:defRPr>
            </a:pPr>
            <a:r>
              <a:t>• Plug in Petpooja production API credentials.</a:t>
            </a:r>
            <a:br/>
            <a:r>
              <a:t>• Map restID for each of the 16 stores.</a:t>
            </a:r>
            <a:br/>
            <a:r>
              <a:t>• Perform live test KOT prints at pilot store counter.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PHASE 3 (WEEK 2)</a:t>
            </a:r>
          </a:p>
          <a:p>
            <a:pPr>
              <a:spcAft>
                <a:spcPts val="1000"/>
              </a:spcAft>
              <a:defRPr sz="1300" b="1">
                <a:solidFill>
                  <a:srgbClr val="0E4825"/>
                </a:solidFill>
              </a:defRPr>
            </a:pPr>
            <a:r>
              <a:t>Razorpay KYC &amp; Webhooks</a:t>
            </a:r>
          </a:p>
          <a:p>
            <a:pPr>
              <a:defRPr sz="1000">
                <a:solidFill>
                  <a:srgbClr val="16281D"/>
                </a:solidFill>
              </a:defRPr>
            </a:pPr>
            <a:r>
              <a:t>• Complete Razorpay merchant account activation.</a:t>
            </a:r>
            <a:br/>
            <a:r>
              <a:t>• Set up webhook listener for instant payment capture.</a:t>
            </a:r>
            <a:br/>
            <a:r>
              <a:t>• Verify automated UPI &amp; Card checkout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F6600"/>
                </a:solidFill>
              </a:defRPr>
            </a:pPr>
            <a:r>
              <a:t>PHASE 4 (LAUNCH)</a:t>
            </a:r>
          </a:p>
          <a:p>
            <a:pPr>
              <a:spcAft>
                <a:spcPts val="1000"/>
              </a:spcAft>
              <a:defRPr sz="1300" b="1">
                <a:solidFill>
                  <a:srgbClr val="0E4825"/>
                </a:solidFill>
              </a:defRPr>
            </a:pPr>
            <a:r>
              <a:t>Store Release &amp; Marketing</a:t>
            </a:r>
          </a:p>
          <a:p>
            <a:pPr>
              <a:defRPr sz="1000">
                <a:solidFill>
                  <a:srgbClr val="16281D"/>
                </a:solidFill>
              </a:defRPr>
            </a:pPr>
            <a:r>
              <a:t>• Publish Android APK to Google Play Store.</a:t>
            </a:r>
            <a:br/>
            <a:r>
              <a:t>• Submit iOS bundle to Apple App Store.</a:t>
            </a:r>
            <a:br/>
            <a:r>
              <a:t>• In-store QR codes &amp; social launch campaign.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6600"/>
                </a:solidFill>
              </a:defRPr>
            </a:pPr>
            <a:r>
              <a:t>THE HOUSE OF DAMN GOOD BURGERS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Ready for Live Device Walkthrough</a:t>
            </a:r>
          </a:p>
          <a:p>
            <a:pPr>
              <a:defRPr sz="1800">
                <a:solidFill>
                  <a:srgbClr val="C8DCCD"/>
                </a:solidFill>
              </a:defRPr>
            </a:pPr>
            <a:r>
              <a:t>Let's tap through the app on device RZCX51TXRKB.</a:t>
            </a:r>
            <a:br/>
            <a:r>
              <a:t>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